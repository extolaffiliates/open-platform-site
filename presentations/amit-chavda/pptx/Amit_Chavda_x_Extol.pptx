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credibility gap: buyers and investors back founders they already know. Amit already has the career; this makes it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don't present. Get Amit talking for 5-10 minutes before slide 3; his answers re-weight everything after. Q01 and Q03 are the deal-breakers: if he can't separate Radiobotics, AXREM and DigitalClinic.ai publicly, the founder-voice plan changes. Q06 sets outcome 01's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Situation: 19 years from radiographer to AI founder. Each stage is a buyer or investor objection he can already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met them in the same room and the pattern is identical. Share the approach, never the other client's numbers. Confirm with Uche before naming Effectivepoint.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Complication: a startup with no public voice starts every buyer and investor conversation cold. Resolution: founder-led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Amit appears twice a week: recording and one review. Everything else is Extol.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that the pieces already work. Amit's version reuses the LinkedIn Manager and the Social Media Manager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topic only. Nothing is quoted or published; the real example replaces this after the first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 is still employed at Radiobotics: separation is a feature, not a risk. The four-week pilot proves the first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C6DE93"/>
                </a:solidFill>
                <a:latin typeface="IBM Plex Mono"/>
              </a:rPr>
              <a:t>EXTOL AFFILIATES · PROPOSAL</a:t>
            </a:r>
          </a:p>
        </p:txBody>
      </p:sp>
      <p:pic>
        <p:nvPicPr>
          <p:cNvPr id="3" name="Picture 2" descr="extol-mark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C6DE93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C6DE93"/>
                </a:solidFill>
                <a:latin typeface="IBM Plex Mono"/>
              </a:rPr>
              <a:t>01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EDE9DC"/>
                </a:solidFill>
                <a:latin typeface="Poppins"/>
              </a:rPr>
              <a:t>A founder voice NHS imaging buyers and investors already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6DE93"/>
                </a:solidFill>
                <a:latin typeface="Open Sans"/>
              </a:rPr>
              <a:t>The founder-led marketing system for Amit Chavda and DigitalClinic.ai.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91840"/>
            <a:ext cx="4206240" cy="365760"/>
          </a:xfrm>
          <a:prstGeom prst="rect">
            <a:avLst/>
          </a:prstGeom>
          <a:solidFill>
            <a:srgbClr val="0C1A11"/>
          </a:solidFill>
          <a:ln w="19050">
            <a:solidFill>
              <a:srgbClr val="C6DE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34670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C6DE93"/>
                </a:solidFill>
                <a:latin typeface="IBM Plex Mono"/>
              </a:rPr>
              <a:t>[One line: what DigitalClinic.ai does]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977639"/>
            <a:ext cx="2499360" cy="1905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069079"/>
            <a:ext cx="2499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EDE9DC"/>
                </a:solidFill>
                <a:latin typeface="Poppins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54879"/>
            <a:ext cx="249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C6DE93"/>
                </a:solidFill>
                <a:latin typeface="Open Sans"/>
              </a:rPr>
              <a:t>years in UK imaging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8040" y="3977639"/>
            <a:ext cx="2499360" cy="1905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8040" y="4069079"/>
            <a:ext cx="2499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EDE9DC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8040" y="4754879"/>
            <a:ext cx="249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C6DE93"/>
                </a:solidFill>
                <a:latin typeface="Open Sans"/>
              </a:rPr>
              <a:t>audiences: NHS buyers, investors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60" y="3977639"/>
            <a:ext cx="2499360" cy="1905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160" y="4069079"/>
            <a:ext cx="2499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EDE9DC"/>
                </a:solidFill>
                <a:latin typeface="Poppi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160" y="4754879"/>
            <a:ext cx="249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C6DE93"/>
                </a:solidFill>
                <a:latin typeface="Open Sans"/>
              </a:rPr>
              <a:t>approval a 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C6DE93"/>
                </a:solidFill>
                <a:latin typeface="Open Sans"/>
              </a:rPr>
              <a:t>Prepared for Amit Chavda · London,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5703A"/>
                </a:solidFill>
                <a:latin typeface="IBM Plex Mono"/>
              </a:rPr>
              <a:t>BEFORE OUR VIEW</a:t>
            </a:r>
          </a:p>
        </p:txBody>
      </p:sp>
      <p:pic>
        <p:nvPicPr>
          <p:cNvPr id="3" name="Picture 2" descr="extol-mark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118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D2A1B"/>
                </a:solidFill>
                <a:latin typeface="Poppins"/>
              </a:rPr>
              <a:t>What we think is going on. Tell us where we're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IBM Plex Mono"/>
              </a:rPr>
              <a:t>02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8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703A"/>
                </a:solidFill>
                <a:latin typeface="Open Sans"/>
              </a:rPr>
              <a:t>Six questions, each from something we noticed. Your answers decide what we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55703A"/>
                </a:solidFill>
                <a:latin typeface="IBM Plex Mono"/>
              </a:rPr>
              <a:t>WHAT WE NOTICED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69164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55703A"/>
                </a:solidFill>
                <a:latin typeface="IBM Plex Mono"/>
              </a:rPr>
              <a:t>THE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11186160" cy="19050"/>
          </a:xfrm>
          <a:prstGeom prst="rect">
            <a:avLst/>
          </a:prstGeom>
          <a:solidFill>
            <a:srgbClr val="55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55703A"/>
                </a:solidFill>
                <a:latin typeface="Poppi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You sell AI to the NHS by day at Radiobotics and are building DigitalClinic.ai alongside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039112"/>
            <a:ext cx="67056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2A1B"/>
                </a:solidFill>
                <a:latin typeface="Poppins"/>
              </a:rPr>
              <a:t>Where does Radiobotics end and DigitalClinic.ai begin, and who has to agree where that line sits?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24328"/>
            <a:ext cx="11186160" cy="9525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157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55703A"/>
                </a:solidFill>
                <a:latin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15768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You have been the radiographer, the commissioner and the vendor.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697480"/>
            <a:ext cx="67056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2A1B"/>
                </a:solidFill>
                <a:latin typeface="Poppins"/>
              </a:rPr>
              <a:t>When an NHS imaging lead hasn't met you, why would they pilot a startup over a vendor they already buy from?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82696"/>
            <a:ext cx="11186160" cy="9525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7413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55703A"/>
                </a:solidFill>
                <a:latin typeface="Poppi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74136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You now help shape AXREM's view on AI in imaging.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355848"/>
            <a:ext cx="67056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2A1B"/>
                </a:solidFill>
                <a:latin typeface="Poppins"/>
              </a:rPr>
              <a:t>Which of your views can you say in public, and which belong to AXREM?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41064"/>
            <a:ext cx="11186160" cy="9525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32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55703A"/>
                </a:solidFill>
                <a:latin typeface="Poppin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32504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An NHS AI purchase passes radiology, IT, procurement and finance.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014216"/>
            <a:ext cx="67056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2A1B"/>
                </a:solidFill>
                <a:latin typeface="Poppins"/>
              </a:rPr>
              <a:t>Who says yes to a DigitalClinic.ai pilot, and who has the problem first?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99432"/>
            <a:ext cx="11186160" cy="9525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55703A"/>
                </a:solidFill>
                <a:latin typeface="Poppi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690872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Investors back traction, not CVs.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672584"/>
            <a:ext cx="67056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2A1B"/>
                </a:solidFill>
                <a:latin typeface="Poppins"/>
              </a:rPr>
              <a:t>What does an investor need to see before the first cheque: pilots, letters of intent, or an audience that listens?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57800"/>
            <a:ext cx="11186160" cy="9525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3492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55703A"/>
                </a:solidFill>
                <a:latin typeface="Poppin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4924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Followers don't pay. Pilots and cheques 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5330952"/>
            <a:ext cx="67056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2A1B"/>
                </a:solidFill>
                <a:latin typeface="Poppins"/>
              </a:rPr>
              <a:t>What is one NHS pilot worth to you, and how many conversations does it take to land one?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Discussion document · Public work history (LinkedIn via Apollo), October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5703A"/>
                </a:solidFill>
                <a:latin typeface="IBM Plex Mono"/>
              </a:rPr>
              <a:t>WHY AMIT</a:t>
            </a:r>
          </a:p>
        </p:txBody>
      </p:sp>
      <p:pic>
        <p:nvPicPr>
          <p:cNvPr id="3" name="Picture 2" descr="extol-mark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118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D2A1B"/>
                </a:solidFill>
                <a:latin typeface="Poppins"/>
              </a:rPr>
              <a:t>Amit has worked every side of UK imaging: clinic, NHS, vendor and industry body.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IBM Plex Mono"/>
              </a:rPr>
              <a:t>03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2659380" cy="173736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265938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76272"/>
            <a:ext cx="23301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2007-2013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50592"/>
            <a:ext cx="233019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2A1B"/>
                </a:solidFill>
                <a:latin typeface="Open Sans"/>
              </a:rPr>
              <a:t>Clinic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A1B"/>
                </a:solidFill>
                <a:latin typeface="Open Sans"/>
              </a:rPr>
              <a:t>Lead Radiographer, Brighton and Sussex University Hospital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5180" y="2011680"/>
            <a:ext cx="2659380" cy="173736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5180" y="2011680"/>
            <a:ext cx="265938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9772" y="2176272"/>
            <a:ext cx="23301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2014-2018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9772" y="2450592"/>
            <a:ext cx="233019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2A1B"/>
                </a:solidFill>
                <a:latin typeface="Open Sans"/>
              </a:rPr>
              <a:t>NHS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A1B"/>
                </a:solidFill>
                <a:latin typeface="Open Sans"/>
              </a:rPr>
              <a:t>NHS England and commissioning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440" y="2011680"/>
            <a:ext cx="2659380" cy="173736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440" y="2011680"/>
            <a:ext cx="265938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2032" y="2176272"/>
            <a:ext cx="23301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2018-now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2032" y="2450592"/>
            <a:ext cx="233019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2A1B"/>
                </a:solidFill>
                <a:latin typeface="Open Sans"/>
              </a:rPr>
              <a:t>Vendor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A1B"/>
                </a:solidFill>
                <a:latin typeface="Open Sans"/>
              </a:rPr>
              <a:t>Siemens Healthineers, Ergéa, Radiobotics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700" y="2011680"/>
            <a:ext cx="2659380" cy="173736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700" y="2011680"/>
            <a:ext cx="265938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4292" y="2176272"/>
            <a:ext cx="23301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2026-now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4292" y="2450592"/>
            <a:ext cx="233019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DE9DC"/>
                </a:solidFill>
                <a:latin typeface="Open Sans"/>
              </a:rPr>
              <a:t>Industry voice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DE9DC"/>
                </a:solidFill>
                <a:latin typeface="Open Sans"/>
              </a:rPr>
              <a:t>Vice Convenor, AXREM AI Special Focus Group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77639"/>
            <a:ext cx="11186160" cy="73152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77639"/>
            <a:ext cx="1072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EDE9DC"/>
                </a:solidFill>
                <a:latin typeface="Open Sans"/>
              </a:rPr>
              <a:t>Few AI founders have stood in the reading room, the commissioning meeting and the vendor pitch. That is DigitalClinic.ai's edge, and almost nobody outside his network sees it yet.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92040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Source: LinkedIn work history via Apollo, October 2026. AXREM: UK trade association, 120+ member companies.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5703A"/>
                </a:solidFill>
                <a:latin typeface="IBM Plex Mono"/>
              </a:rPr>
              <a:t>SAME EVENT, SAME GAP</a:t>
            </a:r>
          </a:p>
        </p:txBody>
      </p:sp>
      <p:pic>
        <p:nvPicPr>
          <p:cNvPr id="3" name="Picture 2" descr="extol-mark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118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D2A1B"/>
                </a:solidFill>
                <a:latin typeface="Poppins"/>
              </a:rPr>
              <a:t>Uche Nnene, met at the same event, has the same gap in finance. We've put the same engine to Effectivepoint.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IBM Plex Mono"/>
              </a:rPr>
              <a:t>04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576320" cy="233172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357632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76272"/>
            <a:ext cx="32471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WHO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50592"/>
            <a:ext cx="3247136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2A1B"/>
                </a:solidFill>
                <a:latin typeface="Open Sans"/>
              </a:rPr>
              <a:t>Dr Uche Nnene FCCA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A1B"/>
                </a:solidFill>
                <a:latin typeface="Open Sans"/>
              </a:rPr>
              <a:t>Co-founder, Effectivepoint. Former EY partner. ERP, Finance and AI transformation for CFOs. Met at [Event name].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840" y="2011680"/>
            <a:ext cx="3576320" cy="233172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840" y="2011680"/>
            <a:ext cx="357632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2432" y="2176272"/>
            <a:ext cx="32471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THE SHARED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432" y="2450592"/>
            <a:ext cx="3247136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2A1B"/>
                </a:solidFill>
                <a:latin typeface="Open Sans"/>
              </a:rPr>
              <a:t>Expertise buyers can't see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A1B"/>
                </a:solidFill>
                <a:latin typeface="Open Sans"/>
              </a:rPr>
              <a:t>Deep expertise and named results live in the work, not where senior buyers look. CFOs and NHS imaging leaders both pick people they already know.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2760" y="2011680"/>
            <a:ext cx="3576320" cy="233172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2760" y="2011680"/>
            <a:ext cx="357632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7352" y="2176272"/>
            <a:ext cx="32471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THE APPROACH WE'VE PUT TO THEM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352" y="2450592"/>
            <a:ext cx="3247136" cy="1801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DE9DC"/>
                </a:solidFill>
                <a:latin typeface="Open Sans"/>
              </a:rPr>
              <a:t>Watch · Draft · Approve · Publish · Measure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DE9DC"/>
                </a:solidFill>
                <a:latin typeface="Open Sans"/>
              </a:rPr>
              <a:t>Agents watch buyers' posts and draft comments and proof posts in the founder's voice; the founder approves each in a minute. First outcome: one Finance Director conversation started on LinkedIn.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26280"/>
            <a:ext cx="11186160" cy="54864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1072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EAE7DA"/>
                </a:solidFill>
                <a:latin typeface="Open Sans"/>
              </a:rPr>
              <a:t>For Amit: the same buyer-comment engine on NHS imaging leaders' posts, alongside the weekly recording.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12080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Effectivepoint named with permission [confirm with Uche before sending].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5703A"/>
                </a:solidFill>
                <a:latin typeface="IBM Plex Mono"/>
              </a:rPr>
              <a:t>THE GOAL</a:t>
            </a:r>
          </a:p>
        </p:txBody>
      </p:sp>
      <p:pic>
        <p:nvPicPr>
          <p:cNvPr id="3" name="Picture 2" descr="extol-mark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118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D2A1B"/>
                </a:solidFill>
                <a:latin typeface="Poppins"/>
              </a:rPr>
              <a:t>Two audiences, one voice: NHS buyers for pilots, investors for the raise.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IBM Plex Mono"/>
              </a:rPr>
              <a:t>05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455920" cy="173736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45592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76272"/>
            <a:ext cx="51267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50592"/>
            <a:ext cx="512673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2A1B"/>
                </a:solidFill>
                <a:latin typeface="Open Sans"/>
              </a:rPr>
              <a:t>Qualified conversations with NHS imaging buyers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D2A1B"/>
                </a:solidFill>
                <a:latin typeface="Open Sans"/>
              </a:rPr>
              <a:t>Radiology leads, PACS/IT and procurement see a founder who knows their workflow. Every post leads to a page and a tracked enquiry route.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160" y="2011680"/>
            <a:ext cx="5455920" cy="173736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2011680"/>
            <a:ext cx="545592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752" y="2176272"/>
            <a:ext cx="51267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752" y="2450592"/>
            <a:ext cx="512673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D2A1B"/>
                </a:solidFill>
                <a:latin typeface="Open Sans"/>
              </a:rPr>
              <a:t>Investor-ready credibility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D2A1B"/>
                </a:solidFill>
                <a:latin typeface="Open Sans"/>
              </a:rPr>
              <a:t>A visible track record and audience that shortens diligence and warms investor introductions.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77639"/>
            <a:ext cx="11186160" cy="64008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11186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EDE9DC"/>
                </a:solidFill>
                <a:latin typeface="Open Sans"/>
              </a:rPr>
              <a:t>Founder first. The DigitalClinic.ai page amplifies. Radiobotics and AXREM content stays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5703A"/>
                </a:solidFill>
                <a:latin typeface="IBM Plex Mono"/>
              </a:rPr>
              <a:t>HOW IT WORKS</a:t>
            </a:r>
          </a:p>
        </p:txBody>
      </p:sp>
      <p:pic>
        <p:nvPicPr>
          <p:cNvPr id="3" name="Picture 2" descr="extol-mark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118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D2A1B"/>
                </a:solidFill>
                <a:latin typeface="Poppins"/>
              </a:rPr>
              <a:t>One recording a week becomes a week of founder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IBM Plex Mono"/>
              </a:rPr>
              <a:t>06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1750060" cy="173736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75006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76272"/>
            <a:ext cx="14208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01 ·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50592"/>
            <a:ext cx="142087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DE9DC"/>
                </a:solidFill>
                <a:latin typeface="Open Sans"/>
              </a:rPr>
              <a:t>Record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DE9DC"/>
                </a:solidFill>
                <a:latin typeface="Open Sans"/>
              </a:rPr>
              <a:t>One 30-min session: explainer, conversation or event debrief (format to agree)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0140" y="2011680"/>
            <a:ext cx="1750060" cy="173736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90140" y="2011680"/>
            <a:ext cx="175006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4732" y="2176272"/>
            <a:ext cx="14208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4732" y="2450592"/>
            <a:ext cx="142087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A1B"/>
                </a:solidFill>
                <a:latin typeface="Open Sans"/>
              </a:rPr>
              <a:t>Edit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Full video and short clips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7360" y="2011680"/>
            <a:ext cx="1750060" cy="173736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7360" y="2011680"/>
            <a:ext cx="175006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1952" y="2176272"/>
            <a:ext cx="14208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1952" y="2450592"/>
            <a:ext cx="142087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A1B"/>
                </a:solidFill>
                <a:latin typeface="Open Sans"/>
              </a:rPr>
              <a:t>Package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LinkedIn posts, article, newsletter, investor update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4580" y="2011680"/>
            <a:ext cx="1750060" cy="173736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4580" y="2011680"/>
            <a:ext cx="175006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9172" y="2176272"/>
            <a:ext cx="14208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04 ·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9172" y="2450592"/>
            <a:ext cx="142087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DE9DC"/>
                </a:solidFill>
                <a:latin typeface="Open Sans"/>
              </a:rPr>
              <a:t>Approve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DE9DC"/>
                </a:solidFill>
                <a:latin typeface="Open Sans"/>
              </a:rPr>
              <a:t>One weekly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1800" y="2011680"/>
            <a:ext cx="1750060" cy="173736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1800" y="2011680"/>
            <a:ext cx="175006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6392" y="2176272"/>
            <a:ext cx="14208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6392" y="2450592"/>
            <a:ext cx="142087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A1B"/>
                </a:solidFill>
                <a:latin typeface="Open Sans"/>
              </a:rPr>
              <a:t>Publish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Every channel, scheduled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9020" y="2011680"/>
            <a:ext cx="1750060" cy="173736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020" y="2011680"/>
            <a:ext cx="175006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3612" y="2176272"/>
            <a:ext cx="14208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3612" y="2450592"/>
            <a:ext cx="142087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A1B"/>
                </a:solidFill>
                <a:latin typeface="Open Sans"/>
              </a:rPr>
              <a:t>Learn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The numbers set next week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840480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703A"/>
                </a:solidFill>
                <a:latin typeface="Open Sans"/>
              </a:rPr>
              <a:t>Dark steps are the only ones that need Amit.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06240"/>
            <a:ext cx="11186160" cy="64008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1072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EDE9DC"/>
                </a:solidFill>
                <a:latin typeface="Open Sans"/>
              </a:rPr>
              <a:t>The DigitalClinic.ai website is home base. Every post points to a page about Amit, the product, an article or a demo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5703A"/>
                </a:solidFill>
                <a:latin typeface="IBM Plex Mono"/>
              </a:rPr>
              <a:t>RUNNING TODAY</a:t>
            </a:r>
          </a:p>
        </p:txBody>
      </p:sp>
      <p:pic>
        <p:nvPicPr>
          <p:cNvPr id="3" name="Picture 2" descr="extol-mark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118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D2A1B"/>
                </a:solidFill>
                <a:latin typeface="Poppins"/>
              </a:rPr>
              <a:t>The engine already runs: four Extol agents, each with a sourced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IBM Plex Mono"/>
              </a:rPr>
              <a:t>07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2659380" cy="224028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2659380" cy="50800"/>
          </a:xfrm>
          <a:prstGeom prst="rect">
            <a:avLst/>
          </a:prstGeom>
          <a:solidFill>
            <a:srgbClr val="55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03120"/>
            <a:ext cx="23301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1D2A1B"/>
                </a:solidFill>
                <a:latin typeface="Poppins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88920"/>
            <a:ext cx="233019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A1B"/>
                </a:solidFill>
                <a:latin typeface="Open Sans"/>
              </a:rPr>
              <a:t>LinkedIn Manager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of invites accepted across 25 live personal brand campaigns. A personal note for every request.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5180" y="1920240"/>
            <a:ext cx="2659380" cy="224028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5180" y="1920240"/>
            <a:ext cx="2659380" cy="50800"/>
          </a:xfrm>
          <a:prstGeom prst="rect">
            <a:avLst/>
          </a:prstGeom>
          <a:solidFill>
            <a:srgbClr val="55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9772" y="2103120"/>
            <a:ext cx="23301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1D2A1B"/>
                </a:solidFill>
                <a:latin typeface="Poppins"/>
              </a:rPr>
              <a:t>+326.2%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9772" y="2788920"/>
            <a:ext cx="233019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A1B"/>
                </a:solidFill>
                <a:latin typeface="Open Sans"/>
              </a:rPr>
              <a:t>AI Social Media Manager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LinkedIn impressions over 90 days. One approval click in Slack per post.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440" y="1920240"/>
            <a:ext cx="2659380" cy="224028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440" y="1920240"/>
            <a:ext cx="2659380" cy="50800"/>
          </a:xfrm>
          <a:prstGeom prst="rect">
            <a:avLst/>
          </a:prstGeom>
          <a:solidFill>
            <a:srgbClr val="55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2032" y="2103120"/>
            <a:ext cx="23301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1D2A1B"/>
                </a:solidFill>
                <a:latin typeface="Poppins"/>
              </a:rPr>
              <a:t>57.4%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2032" y="2788920"/>
            <a:ext cx="233019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A1B"/>
                </a:solidFill>
                <a:latin typeface="Open Sans"/>
              </a:rPr>
              <a:t>Lead Magnet Agent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open rate across 61 sequences. One email written for one business.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700" y="1920240"/>
            <a:ext cx="2659380" cy="224028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700" y="1920240"/>
            <a:ext cx="2659380" cy="50800"/>
          </a:xfrm>
          <a:prstGeom prst="rect">
            <a:avLst/>
          </a:prstGeom>
          <a:solidFill>
            <a:srgbClr val="55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4292" y="2103120"/>
            <a:ext cx="23301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1D2A1B"/>
                </a:solidFill>
                <a:latin typeface="Poppins"/>
              </a:rPr>
              <a:t>2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4292" y="2788920"/>
            <a:ext cx="233019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A1B"/>
                </a:solidFill>
                <a:latin typeface="Open Sans"/>
              </a:rPr>
              <a:t>Finance Handler Agent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from call transcript to priced proposal, down from 2 days.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89120"/>
            <a:ext cx="11186160" cy="54864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1072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EAE7DA"/>
                </a:solidFill>
                <a:latin typeface="Open Sans"/>
              </a:rPr>
              <a:t>Fixed price, agreed up front. Built in your accounts; you own everything. No lock-in.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74920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Source: extol.si case studies; LinkedIn analytics to 29 Apr 2026; Instantly dashboard 29 Mar to 29 Apr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5703A"/>
                </a:solidFill>
                <a:latin typeface="IBM Plex Mono"/>
              </a:rPr>
              <a:t>THE TOOLS</a:t>
            </a:r>
          </a:p>
        </p:txBody>
      </p:sp>
      <p:pic>
        <p:nvPicPr>
          <p:cNvPr id="3" name="Picture 2" descr="extol-mark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118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D2A1B"/>
                </a:solidFill>
                <a:latin typeface="Poppins"/>
              </a:rPr>
              <a:t>The stack. One job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IBM Plex Mono"/>
              </a:rPr>
              <a:t>08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6459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ITS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645920"/>
            <a:ext cx="606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WHAT YOU 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11186160" cy="9525"/>
          </a:xfrm>
          <a:prstGeom prst="rect">
            <a:avLst/>
          </a:prstGeom>
          <a:solidFill>
            <a:srgbClr val="55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2996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D2A1B"/>
                </a:solidFill>
                <a:latin typeface="Poppins"/>
              </a:rPr>
              <a:t>ChatGPT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02996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The writer behind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029968"/>
            <a:ext cx="5928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Scripts, posts, articles, newsletters and investor updates, drafted from your recordings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23160"/>
            <a:ext cx="11186160" cy="9525"/>
          </a:xfrm>
          <a:prstGeom prst="rect">
            <a:avLst/>
          </a:prstGeom>
          <a:solidFill>
            <a:srgbClr val="55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3288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D2A1B"/>
                </a:solidFill>
                <a:latin typeface="Poppins"/>
              </a:rPr>
              <a:t>Higgsfield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53288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Video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32888"/>
            <a:ext cx="5928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Clean edits, subtitles, motion and covers. Full videos plus vertical shorts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26080"/>
            <a:ext cx="11186160" cy="9525"/>
          </a:xfrm>
          <a:prstGeom prst="rect">
            <a:avLst/>
          </a:prstGeom>
          <a:solidFill>
            <a:srgbClr val="55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3580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D2A1B"/>
                </a:solidFill>
                <a:latin typeface="Poppins"/>
              </a:rPr>
              <a:t>Apollo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03580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Lists, outreach, newsletter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035808"/>
            <a:ext cx="5928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Targeted NHS imaging buyer and investor lists, outreach sequences, the newsletter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29000"/>
            <a:ext cx="11186160" cy="9525"/>
          </a:xfrm>
          <a:prstGeom prst="rect">
            <a:avLst/>
          </a:prstGeom>
          <a:solidFill>
            <a:srgbClr val="55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3872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D2A1B"/>
                </a:solidFill>
                <a:latin typeface="Poppins"/>
              </a:rPr>
              <a:t>Bloggerly.ai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53872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SEO and AI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538728"/>
            <a:ext cx="5928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Articles that rank on Google and show up in AI answers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931920"/>
            <a:ext cx="11186160" cy="9525"/>
          </a:xfrm>
          <a:prstGeom prst="rect">
            <a:avLst/>
          </a:prstGeom>
          <a:solidFill>
            <a:srgbClr val="55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04164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D2A1B"/>
                </a:solidFill>
                <a:latin typeface="Poppins"/>
              </a:rPr>
              <a:t>LinkedIn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04164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Authority and conversations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041648"/>
            <a:ext cx="5928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Founder profile, posting and engagement in your voice; DigitalClinic.ai page amplifies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617720"/>
            <a:ext cx="1118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703A"/>
                </a:solidFill>
                <a:latin typeface="Open Sans"/>
              </a:rPr>
              <a:t>LinkedIn is the main channel for NHS and investor audiences. Full recordings go to YouTube; the newsletter doubles as the investor update.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5703A"/>
                </a:solidFill>
                <a:latin typeface="IBM Plex Mono"/>
              </a:rPr>
              <a:t>AN EXAMPLE</a:t>
            </a:r>
          </a:p>
        </p:txBody>
      </p:sp>
      <p:pic>
        <p:nvPicPr>
          <p:cNvPr id="3" name="Picture 2" descr="extol-mark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118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D2A1B"/>
                </a:solidFill>
                <a:latin typeface="Poppins"/>
              </a:rPr>
              <a:t>One topic becomes four assets for two audiences.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IBM Plex Mono"/>
              </a:rPr>
              <a:t>09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1186160" cy="960120"/>
          </a:xfrm>
          <a:prstGeom prst="rect">
            <a:avLst/>
          </a:prstGeom>
          <a:solidFill>
            <a:srgbClr val="EDE9DC"/>
          </a:solidFill>
          <a:ln w="19050">
            <a:solidFill>
              <a:srgbClr val="5570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1072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PLACEHOLDER · EXAMPLE TO BE PRODUCED FROM AMIT'S FIRST RECORDING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72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D2A1B"/>
                </a:solidFill>
                <a:latin typeface="Poppins"/>
              </a:rPr>
              <a:t>Proposed topic: "What should an NHS imaging department ask before it buys AI?"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2659380" cy="137160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265938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090672"/>
            <a:ext cx="233019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2A1B"/>
                </a:solidFill>
                <a:latin typeface="Open Sans"/>
              </a:rPr>
              <a:t>LinkedIn clip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A1B"/>
                </a:solidFill>
                <a:latin typeface="Open Sans"/>
              </a:rPr>
              <a:t>60 seconds, subtitled. For buyers.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5180" y="2926080"/>
            <a:ext cx="2659380" cy="137160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5180" y="2926080"/>
            <a:ext cx="265938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9772" y="3090672"/>
            <a:ext cx="233019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2A1B"/>
                </a:solidFill>
                <a:latin typeface="Open Sans"/>
              </a:rPr>
              <a:t>Search article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A1B"/>
                </a:solidFill>
                <a:latin typeface="Open Sans"/>
              </a:rPr>
              <a:t>Ranks on Google and in AI answers. For buyers.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440" y="2926080"/>
            <a:ext cx="2659380" cy="137160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440" y="2926080"/>
            <a:ext cx="265938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2032" y="3090672"/>
            <a:ext cx="233019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2A1B"/>
                </a:solidFill>
                <a:latin typeface="Open Sans"/>
              </a:rPr>
              <a:t>Newsletter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A1B"/>
                </a:solidFill>
                <a:latin typeface="Open Sans"/>
              </a:rPr>
              <a:t>One section, sent via Apollo. For both.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700" y="2926080"/>
            <a:ext cx="2659380" cy="137160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700" y="2926080"/>
            <a:ext cx="265938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4292" y="3090672"/>
            <a:ext cx="233019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D2A1B"/>
                </a:solidFill>
                <a:latin typeface="Open Sans"/>
              </a:rPr>
              <a:t>Investor update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D2A1B"/>
                </a:solidFill>
                <a:latin typeface="Open Sans"/>
              </a:rPr>
              <a:t>What buyers are asking this month. For investors.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5703A"/>
                </a:solidFill>
                <a:latin typeface="IBM Plex Mono"/>
              </a:rPr>
              <a:t>CONTROL AND THE FIRST OUTCOME</a:t>
            </a:r>
          </a:p>
        </p:txBody>
      </p:sp>
      <p:pic>
        <p:nvPicPr>
          <p:cNvPr id="3" name="Picture 2" descr="extol-mark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118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D2A1B"/>
                </a:solidFill>
                <a:latin typeface="Poppins"/>
              </a:rPr>
              <a:t>One approval keeps Radiobotics, AXREM and DigitalClinic.ai cleanly separate.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5703A"/>
                </a:solidFill>
                <a:latin typeface="IBM Plex Mono"/>
              </a:rPr>
              <a:t>10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1449324" cy="123444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449324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76272"/>
            <a:ext cx="11201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50592"/>
            <a:ext cx="11201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D2A1B"/>
                </a:solidFill>
                <a:latin typeface="Open Sans"/>
              </a:rPr>
              <a:t>Build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D2A1B"/>
                </a:solidFill>
                <a:latin typeface="Open Sans"/>
              </a:rPr>
              <a:t>The weekly pack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1972" y="2011680"/>
            <a:ext cx="1449324" cy="123444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61972" y="2011680"/>
            <a:ext cx="1449324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6564" y="2176272"/>
            <a:ext cx="11201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6564" y="2450592"/>
            <a:ext cx="11201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EDE9DC"/>
                </a:solidFill>
                <a:latin typeface="Open Sans"/>
              </a:rPr>
              <a:t>Review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DE9DC"/>
                </a:solidFill>
                <a:latin typeface="Open Sans"/>
              </a:rPr>
              <a:t>Claims, brand, links, once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1024" y="2011680"/>
            <a:ext cx="1449324" cy="123444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21024" y="2011680"/>
            <a:ext cx="1449324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6" y="2176272"/>
            <a:ext cx="11201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616" y="2450592"/>
            <a:ext cx="11201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D2A1B"/>
                </a:solidFill>
                <a:latin typeface="Open Sans"/>
              </a:rPr>
              <a:t>Publish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D2A1B"/>
                </a:solidFill>
                <a:latin typeface="Open Sans"/>
              </a:rPr>
              <a:t>Only approved items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80076" y="2011680"/>
            <a:ext cx="1449324" cy="123444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0076" y="2011680"/>
            <a:ext cx="1449324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4668" y="2176272"/>
            <a:ext cx="11201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5703A"/>
                </a:solidFill>
                <a:latin typeface="IBM Plex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4668" y="2450592"/>
            <a:ext cx="11201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1D2A1B"/>
                </a:solidFill>
                <a:latin typeface="Open Sans"/>
              </a:rPr>
              <a:t>Learn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D2A1B"/>
                </a:solidFill>
                <a:latin typeface="Open Sans"/>
              </a:rPr>
              <a:t>Views, clicks, enquiries, investor replies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29000"/>
            <a:ext cx="6126480" cy="1417320"/>
          </a:xfrm>
          <a:prstGeom prst="rect">
            <a:avLst/>
          </a:prstGeom>
          <a:solidFill>
            <a:srgbClr val="E4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429000"/>
            <a:ext cx="50800" cy="141732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38728"/>
            <a:ext cx="5760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D2A1B"/>
                </a:solidFill>
                <a:latin typeface="Open Sans"/>
              </a:rPr>
              <a:t>No Radiobotics products, customers or pipeline. AXREM positions only once AXREM has published them. Clinical, regulatory and performance claims need explicit sign-off. Check the Radiobotics contract and conflict-of-interest policy before launch. Everything runs in Amit's own accounts; he owns every account, credential and file.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2011680"/>
            <a:ext cx="4785360" cy="2834640"/>
          </a:xfrm>
          <a:prstGeom prst="rect">
            <a:avLst/>
          </a:prstGeom>
          <a:solidFill>
            <a:srgbClr val="0C1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03720" y="2011680"/>
            <a:ext cx="478536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312" y="2176272"/>
            <a:ext cx="4456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OUTCOME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450592"/>
            <a:ext cx="4456176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DE9DC"/>
                </a:solidFill>
                <a:latin typeface="Open Sans"/>
              </a:rPr>
              <a:t>The first qualified NHS buyer conversation that came from content.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DE9DC"/>
                </a:solidFill>
                <a:latin typeface="Open Sans"/>
              </a:rPr>
              <a:t>Target: a number we agree before we start.
Proof: every enquiry traced to the post that sent it.
Weekly output (proposed): 1 edited recording, 4-6 shorts, 3 LinkedIn posts, 1 article, 1 newsletter.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C6DE93"/>
                </a:solidFill>
                <a:latin typeface="IBM Plex Mono"/>
              </a:rPr>
              <a:t>NEXT</a:t>
            </a:r>
          </a:p>
        </p:txBody>
      </p:sp>
      <p:pic>
        <p:nvPicPr>
          <p:cNvPr id="3" name="Picture 2" descr="extol-mark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274320"/>
            <a:ext cx="422212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85800"/>
            <a:ext cx="1118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EAE7DA"/>
                </a:solidFill>
                <a:latin typeface="Poppins"/>
              </a:rPr>
              <a:t>Six answers, then we price the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C6DE93"/>
                </a:solidFill>
                <a:latin typeface="Open Sans"/>
              </a:rPr>
              <a:t>Extol Affiliates · Prepared for Amit Chavda · DigitalClinic.ai ·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C6DE93"/>
                </a:solidFill>
                <a:latin typeface="IBM Plex Mono"/>
              </a:rPr>
              <a:t>11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606800" cy="1234440"/>
          </a:xfrm>
          <a:prstGeom prst="rect">
            <a:avLst/>
          </a:prstGeom>
          <a:solidFill>
            <a:srgbClr val="1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0680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37360"/>
            <a:ext cx="32776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84248"/>
            <a:ext cx="32776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DE9DC"/>
                </a:solidFill>
                <a:latin typeface="Open Sans"/>
              </a:rPr>
              <a:t>DigitalClinic.ai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DE9DC"/>
                </a:solidFill>
                <a:latin typeface="Open Sans"/>
              </a:rPr>
              <a:t>What it does in one line, its stage, and are you raising now?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2600" y="1600200"/>
            <a:ext cx="3606800" cy="1234440"/>
          </a:xfrm>
          <a:prstGeom prst="rect">
            <a:avLst/>
          </a:prstGeom>
          <a:solidFill>
            <a:srgbClr val="1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00" y="1600200"/>
            <a:ext cx="360680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7192" y="1737360"/>
            <a:ext cx="32776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192" y="1984248"/>
            <a:ext cx="32776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DE9DC"/>
                </a:solidFill>
                <a:latin typeface="Open Sans"/>
              </a:rPr>
              <a:t>Audience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DE9DC"/>
                </a:solidFill>
                <a:latin typeface="Open Sans"/>
              </a:rPr>
              <a:t>Which trusts, roles and investors, and where should each post send them?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280" y="1600200"/>
            <a:ext cx="3606800" cy="1234440"/>
          </a:xfrm>
          <a:prstGeom prst="rect">
            <a:avLst/>
          </a:prstGeom>
          <a:solidFill>
            <a:srgbClr val="1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2280" y="1600200"/>
            <a:ext cx="360680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6872" y="1737360"/>
            <a:ext cx="32776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6872" y="1984248"/>
            <a:ext cx="32776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DE9DC"/>
                </a:solidFill>
                <a:latin typeface="Open Sans"/>
              </a:rPr>
              <a:t>Roles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DE9DC"/>
                </a:solidFill>
                <a:latin typeface="Open Sans"/>
              </a:rPr>
              <a:t>What does your Radiobotics contract allow, and how do you disclose AXREM and DigitalClinic.ai?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17520"/>
            <a:ext cx="3606800" cy="1234440"/>
          </a:xfrm>
          <a:prstGeom prst="rect">
            <a:avLst/>
          </a:prstGeom>
          <a:solidFill>
            <a:srgbClr val="1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017520"/>
            <a:ext cx="360680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154680"/>
            <a:ext cx="32776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401568"/>
            <a:ext cx="32776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DE9DC"/>
                </a:solidFill>
                <a:latin typeface="Open Sans"/>
              </a:rPr>
              <a:t>Production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DE9DC"/>
                </a:solidFill>
                <a:latin typeface="Open Sans"/>
              </a:rPr>
              <a:t>Can you record once a week, and in what style?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2600" y="3017520"/>
            <a:ext cx="3606800" cy="1234440"/>
          </a:xfrm>
          <a:prstGeom prst="rect">
            <a:avLst/>
          </a:prstGeom>
          <a:solidFill>
            <a:srgbClr val="1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2600" y="3017520"/>
            <a:ext cx="360680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7192" y="3154680"/>
            <a:ext cx="32776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7192" y="3401568"/>
            <a:ext cx="32776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DE9DC"/>
                </a:solidFill>
                <a:latin typeface="Open Sans"/>
              </a:rPr>
              <a:t>Access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DE9DC"/>
                </a:solidFill>
                <a:latin typeface="Open Sans"/>
              </a:rPr>
              <a:t>Which accounts connect, and who handles enquiries?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2280" y="3017520"/>
            <a:ext cx="3606800" cy="1234440"/>
          </a:xfrm>
          <a:prstGeom prst="rect">
            <a:avLst/>
          </a:prstGeom>
          <a:solidFill>
            <a:srgbClr val="1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2280" y="3017520"/>
            <a:ext cx="3606800" cy="50800"/>
          </a:xfrm>
          <a:prstGeom prst="rect">
            <a:avLst/>
          </a:prstGeom>
          <a:solidFill>
            <a:srgbClr val="C6D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6872" y="3154680"/>
            <a:ext cx="32776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C6DE93"/>
                </a:solidFill>
                <a:latin typeface="IBM Plex Mon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6872" y="3401568"/>
            <a:ext cx="32776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DE9DC"/>
                </a:solidFill>
                <a:latin typeface="Open Sans"/>
              </a:rPr>
              <a:t>Budget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EDE9DC"/>
                </a:solidFill>
                <a:latin typeface="Open Sans"/>
              </a:rPr>
              <a:t>What pilot budget and tool cap works for you?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80560"/>
            <a:ext cx="1118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C6DE93"/>
                </a:solidFill>
                <a:latin typeface="Open Sans"/>
              </a:rPr>
              <a:t>Fixed price, agreed up front: setup + monthly operation + capped tools (ChatGPT, Higgsfield, Apollo; Bloggerly.ai at no tool cost). You own everything. Nothing publishes until you approve the complete pack.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