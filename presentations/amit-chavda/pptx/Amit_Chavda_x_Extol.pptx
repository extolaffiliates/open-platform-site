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credibility gap: buyers and investors back founders they already know. Amit already has the career; this makes it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Situation: 19 years from radiographer to AI founder. Each stage is a buyer or investor objection he can already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Complication: a startup with no public voice starts every buyer and investor conversation cold. Resolution: founder-led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Amit appears twice a week: recording and one review. Everything else is Extol.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topic only. Nothing is quoted or published; the real example replaces this after the first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is still employed at Radiobotics: separation is a feature, not a risk. The four-week pilot proves the first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9EBB80"/>
                </a:solidFill>
                <a:latin typeface="IBM Plex Mono"/>
              </a:rPr>
              <a:t>EXTOL AFFILIATES ·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9EBB80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9EBB80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9F0C9"/>
                </a:solidFill>
                <a:latin typeface="Poppins"/>
              </a:rPr>
              <a:t>A founder voice NHS imaging buyers and investors already 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803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9EBB80"/>
                </a:solidFill>
                <a:latin typeface="Open Sans"/>
              </a:rPr>
              <a:t>The founder-led marketing system for Amit Chavda and DigitalClinic.ai.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291840"/>
            <a:ext cx="4206240" cy="365760"/>
          </a:xfrm>
          <a:prstGeom prst="rect">
            <a:avLst/>
          </a:prstGeom>
          <a:solidFill>
            <a:srgbClr val="1D3524"/>
          </a:solidFill>
          <a:ln w="19050">
            <a:solidFill>
              <a:srgbClr val="9EBB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3346704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EBB80"/>
                </a:solidFill>
                <a:latin typeface="IBM Plex Mono"/>
              </a:rPr>
              <a:t>[One line: what DigitalClinic.ai does]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77639"/>
            <a:ext cx="2499360" cy="1905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069079"/>
            <a:ext cx="249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9F0C9"/>
                </a:solidFill>
                <a:latin typeface="Poppins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79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EBB80"/>
                </a:solidFill>
                <a:latin typeface="Open Sans"/>
              </a:rPr>
              <a:t>years in UK imaging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8040" y="3977639"/>
            <a:ext cx="2499360" cy="1905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8040" y="4069079"/>
            <a:ext cx="249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9F0C9"/>
                </a:solidFill>
                <a:latin typeface="Poppi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8040" y="4754879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EBB80"/>
                </a:solidFill>
                <a:latin typeface="Open Sans"/>
              </a:rPr>
              <a:t>audiences: NHS buyers,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160" y="3977639"/>
            <a:ext cx="2499360" cy="1905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160" y="4069079"/>
            <a:ext cx="2499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E9F0C9"/>
                </a:solidFill>
                <a:latin typeface="Poppi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160" y="4754879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EBB80"/>
                </a:solidFill>
                <a:latin typeface="Open Sans"/>
              </a:rPr>
              <a:t>approval a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9EBB80"/>
                </a:solidFill>
                <a:latin typeface="Open Sans"/>
              </a:rPr>
              <a:t>Prepared for Amit Chavda · London,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E9C6B"/>
                </a:solidFill>
                <a:latin typeface="IBM Plex Mono"/>
              </a:rPr>
              <a:t>WHY AMIT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01F14"/>
                </a:solidFill>
                <a:latin typeface="Poppins"/>
              </a:rPr>
              <a:t>Amit has worked every side of UK imaging: clinic, NHS, vendor and industry body.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IBM Plex Mono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265938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2007-2013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Clinic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Lead Radiographer, Brighton and Sussex University Hospital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5180" y="2011680"/>
            <a:ext cx="265938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5180" y="20116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977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2014-2018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977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NHS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NHS England and commissioning analytics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440" y="2011680"/>
            <a:ext cx="265938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7440" y="20116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203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2018-now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203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Vendor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Siemens Healthineers, Ergéa, Radiobotics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2011680"/>
            <a:ext cx="2659380" cy="173736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9700" y="20116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4292" y="2176272"/>
            <a:ext cx="23301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2026-now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4292" y="2450592"/>
            <a:ext cx="233019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9F0C9"/>
                </a:solidFill>
                <a:latin typeface="Open Sans"/>
              </a:rPr>
              <a:t>Industry voice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9F0C9"/>
                </a:solidFill>
                <a:latin typeface="Open Sans"/>
              </a:rPr>
              <a:t>Vice Convenor, AXREM AI Special Focus Group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77639"/>
            <a:ext cx="11186160" cy="73152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977639"/>
            <a:ext cx="1072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9F0C9"/>
                </a:solidFill>
                <a:latin typeface="Open Sans"/>
              </a:rPr>
              <a:t>Few AI founders have stood in the reading room, the commissioning meeting and the vendor pitch. That is DigitalClinic.ai's edge, and almost nobody outside his network sees it yet.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92040"/>
            <a:ext cx="1118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Source: LinkedIn work history via Apollo, October 2026. AXREM: UK trade association, 120+ member companies.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E9C6B"/>
                </a:solidFill>
                <a:latin typeface="IBM Plex Mono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01F14"/>
                </a:solidFill>
                <a:latin typeface="Poppins"/>
              </a:rPr>
              <a:t>Two audiences, one voice: NHS buyers for pilots, investors for the raise.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IBM Plex Mono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545592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545592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76272"/>
            <a:ext cx="51267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450592"/>
            <a:ext cx="51267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1F14"/>
                </a:solidFill>
                <a:latin typeface="Open Sans"/>
              </a:rPr>
              <a:t>Qualified conversations with NHS imaging buyers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01F14"/>
                </a:solidFill>
                <a:latin typeface="Open Sans"/>
              </a:rPr>
              <a:t>Radiology leads, PACS/IT and procurement see a founder who knows their workflow. Every post leads to a page and a tracked enquiry route.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160" y="2011680"/>
            <a:ext cx="545592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160" y="2011680"/>
            <a:ext cx="545592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7752" y="2176272"/>
            <a:ext cx="512673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7752" y="2450592"/>
            <a:ext cx="51267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1F14"/>
                </a:solidFill>
                <a:latin typeface="Open Sans"/>
              </a:rPr>
              <a:t>Investor-ready credibility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01F14"/>
                </a:solidFill>
                <a:latin typeface="Open Sans"/>
              </a:rPr>
              <a:t>A visible track record and audience that shortens diligence and warms investor introductions.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77639"/>
            <a:ext cx="11186160" cy="64008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39"/>
            <a:ext cx="1118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E9F0C9"/>
                </a:solidFill>
                <a:latin typeface="Open Sans"/>
              </a:rPr>
              <a:t>Founder first. The DigitalClinic.ai page amplifies. Radiobotics and AXREM content stays 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E9C6B"/>
                </a:solidFill>
                <a:latin typeface="IBM Plex Mono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01F14"/>
                </a:solidFill>
                <a:latin typeface="Poppins"/>
              </a:rPr>
              <a:t>One recording a week becomes a week of founder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IBM Plex Mono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750060" cy="173736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17500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01 ·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Record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One 30-min session: explainer, conversation or event debrief (format to agree)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90140" y="2011680"/>
            <a:ext cx="175006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0140" y="2011680"/>
            <a:ext cx="17500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473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473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1F14"/>
                </a:solidFill>
                <a:latin typeface="Open Sans"/>
              </a:rPr>
              <a:t>Edit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Full video and short clips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7360" y="2011680"/>
            <a:ext cx="175006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7360" y="2011680"/>
            <a:ext cx="17500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195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95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1F14"/>
                </a:solidFill>
                <a:latin typeface="Open Sans"/>
              </a:rPr>
              <a:t>Package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LinkedIn posts, article, newsletter, investor update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580" y="2011680"/>
            <a:ext cx="1750060" cy="173736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580" y="2011680"/>
            <a:ext cx="17500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917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04 ·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917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Approve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One weekly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51800" y="2011680"/>
            <a:ext cx="175006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51800" y="2011680"/>
            <a:ext cx="17500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639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639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1F14"/>
                </a:solidFill>
                <a:latin typeface="Open Sans"/>
              </a:rPr>
              <a:t>Publish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Every channel, scheduled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39020" y="2011680"/>
            <a:ext cx="1750060" cy="173736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39020" y="2011680"/>
            <a:ext cx="17500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3612" y="2176272"/>
            <a:ext cx="14208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3612" y="2450592"/>
            <a:ext cx="142087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1F14"/>
                </a:solidFill>
                <a:latin typeface="Open Sans"/>
              </a:rPr>
              <a:t>Learn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The numbers set next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840480"/>
            <a:ext cx="1118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7E9C6B"/>
                </a:solidFill>
                <a:latin typeface="Open Sans"/>
              </a:rPr>
              <a:t>Dark steps are the only ones that need Amit.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06240"/>
            <a:ext cx="11186160" cy="64008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28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E9F0C9"/>
                </a:solidFill>
                <a:latin typeface="Open Sans"/>
              </a:rPr>
              <a:t>The DigitalClinic.ai website is home base. Every post points to a page about Amit, the product, an article or a demo request.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E9C6B"/>
                </a:solidFill>
                <a:latin typeface="IBM Plex Mono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01F14"/>
                </a:solidFill>
                <a:latin typeface="Poppins"/>
              </a:rPr>
              <a:t>The stack. One job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IBM Plex Mon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6459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ITS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645920"/>
            <a:ext cx="606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WHAT YOU 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1186160" cy="9525"/>
          </a:xfrm>
          <a:prstGeom prst="rect">
            <a:avLst/>
          </a:prstGeom>
          <a:solidFill>
            <a:srgbClr val="7E9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F14"/>
                </a:solidFill>
                <a:latin typeface="Poppins"/>
              </a:rPr>
              <a:t>ChatGPT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02996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The writer behind everything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02996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Scripts, posts, articles, newsletters and investor updates, drafted from your recordings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23160"/>
            <a:ext cx="11186160" cy="9525"/>
          </a:xfrm>
          <a:prstGeom prst="rect">
            <a:avLst/>
          </a:prstGeom>
          <a:solidFill>
            <a:srgbClr val="7E9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3288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F14"/>
                </a:solidFill>
                <a:latin typeface="Poppins"/>
              </a:rPr>
              <a:t>Higgsfield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53288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Video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53288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Clean edits, subtitles, motion and covers. Full videos plus vertical shorts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11186160" cy="9525"/>
          </a:xfrm>
          <a:prstGeom prst="rect">
            <a:avLst/>
          </a:prstGeom>
          <a:solidFill>
            <a:srgbClr val="7E9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03580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F14"/>
                </a:solidFill>
                <a:latin typeface="Poppins"/>
              </a:rPr>
              <a:t>Apollo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03580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Lists, outreach, newsletter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303580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Targeted NHS imaging buyer and investor lists, outreach sequences, the newsletter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11186160" cy="9525"/>
          </a:xfrm>
          <a:prstGeom prst="rect">
            <a:avLst/>
          </a:prstGeom>
          <a:solidFill>
            <a:srgbClr val="7E9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3872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F14"/>
                </a:solidFill>
                <a:latin typeface="Poppins"/>
              </a:rPr>
              <a:t>Bloggerly.ai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53872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SEO and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53872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Articles that rank on Google and show up in AI answers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31920"/>
            <a:ext cx="11186160" cy="9525"/>
          </a:xfrm>
          <a:prstGeom prst="rect">
            <a:avLst/>
          </a:prstGeom>
          <a:solidFill>
            <a:srgbClr val="7E9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41648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1F14"/>
                </a:solidFill>
                <a:latin typeface="Poppins"/>
              </a:rPr>
              <a:t>LinkedIn 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41648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Authority and conversations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4041648"/>
            <a:ext cx="5928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Founder profile, posting and engagement in your voice; DigitalClinic.ai page amplifies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17720"/>
            <a:ext cx="1118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7E9C6B"/>
                </a:solidFill>
                <a:latin typeface="Open Sans"/>
              </a:rPr>
              <a:t>LinkedIn is the main channel for NHS and investor audiences. Full recordings go to YouTube; the newsletter doubles as the investor update.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E9C6B"/>
                </a:solidFill>
                <a:latin typeface="IBM Plex Mono"/>
              </a:rPr>
              <a:t>AN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01F14"/>
                </a:solidFill>
                <a:latin typeface="Poppins"/>
              </a:rPr>
              <a:t>One topic becomes four assets for two audiences.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IBM Plex Mono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11186160" cy="960120"/>
          </a:xfrm>
          <a:prstGeom prst="rect">
            <a:avLst/>
          </a:prstGeom>
          <a:solidFill>
            <a:srgbClr val="E9F0C9"/>
          </a:solidFill>
          <a:ln w="19050">
            <a:solidFill>
              <a:srgbClr val="7E9C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1368"/>
            <a:ext cx="1072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PLACEHOLDER · EXAMPLE TO BE PRODUCED FROM AMIT'S FIRST RECORDING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072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01F14"/>
                </a:solidFill>
                <a:latin typeface="Poppins"/>
              </a:rPr>
              <a:t>Proposed topic: "What should an NHS imaging department ask before it buys AI?"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26080"/>
            <a:ext cx="2659380" cy="137160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260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LinkedIn clip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60 seconds, subtitled. For buyers.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5180" y="2926080"/>
            <a:ext cx="2659380" cy="137160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5180" y="29260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77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Search article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Ranks on Google and in AI answers. For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440" y="2926080"/>
            <a:ext cx="2659380" cy="137160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440" y="29260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203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Newsletter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One section, sent via Apollo. For both.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2926080"/>
            <a:ext cx="2659380" cy="137160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9700" y="2926080"/>
            <a:ext cx="265938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4292" y="3090672"/>
            <a:ext cx="233019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1F14"/>
                </a:solidFill>
                <a:latin typeface="Open Sans"/>
              </a:rPr>
              <a:t>Investor update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01F14"/>
                </a:solidFill>
                <a:latin typeface="Open Sans"/>
              </a:rPr>
              <a:t>What buyers are asking this month. For investors.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E9C6B"/>
                </a:solidFill>
                <a:latin typeface="IBM Plex Mono"/>
              </a:rPr>
              <a:t>CONTROL AND THE FIRST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01F14"/>
                </a:solidFill>
                <a:latin typeface="Poppins"/>
              </a:rPr>
              <a:t>One approval keeps Radiobotics, AXREM and DigitalClinic.ai cleanly separate.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E9C6B"/>
                </a:solidFill>
                <a:latin typeface="IBM Plex Mono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449324" cy="123444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1449324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01F14"/>
                </a:solidFill>
                <a:latin typeface="Open Sans"/>
              </a:rPr>
              <a:t>Build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01F14"/>
                </a:solidFill>
                <a:latin typeface="Open Sans"/>
              </a:rPr>
              <a:t>The weekly pack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1972" y="2011680"/>
            <a:ext cx="1449324" cy="123444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1972" y="2011680"/>
            <a:ext cx="1449324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26564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564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E9F0C9"/>
                </a:solidFill>
                <a:latin typeface="Open Sans"/>
              </a:rPr>
              <a:t>Review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E9F0C9"/>
                </a:solidFill>
                <a:latin typeface="Open Sans"/>
              </a:rPr>
              <a:t>Claims, brand, links, once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1024" y="2011680"/>
            <a:ext cx="1449324" cy="123444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21024" y="2011680"/>
            <a:ext cx="1449324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5616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6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01F14"/>
                </a:solidFill>
                <a:latin typeface="Open Sans"/>
              </a:rPr>
              <a:t>Publish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01F14"/>
                </a:solidFill>
                <a:latin typeface="Open Sans"/>
              </a:rPr>
              <a:t>Only approved items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0076" y="2011680"/>
            <a:ext cx="1449324" cy="123444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80076" y="2011680"/>
            <a:ext cx="1449324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4668" y="2176272"/>
            <a:ext cx="11201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E9C6B"/>
                </a:solidFill>
                <a:latin typeface="IBM Plex Mono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4668" y="2450592"/>
            <a:ext cx="11201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01F14"/>
                </a:solidFill>
                <a:latin typeface="Open Sans"/>
              </a:rPr>
              <a:t>Learn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01F14"/>
                </a:solidFill>
                <a:latin typeface="Open Sans"/>
              </a:rPr>
              <a:t>Views, clicks, enquiries, investor replies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29000"/>
            <a:ext cx="6126480" cy="1417320"/>
          </a:xfrm>
          <a:prstGeom prst="rect">
            <a:avLst/>
          </a:prstGeom>
          <a:solidFill>
            <a:srgbClr val="F6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29000"/>
            <a:ext cx="50800" cy="141732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38728"/>
            <a:ext cx="57607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01F14"/>
                </a:solidFill>
                <a:latin typeface="Open Sans"/>
              </a:rPr>
              <a:t>No Radiobotics products, customers or pipeline. AXREM positions only once AXREM has published them. Clinical, regulatory and performance claims need explicit sign-off. Check the Radiobotics contract and conflict-of-interest policy before launch.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2011680"/>
            <a:ext cx="4785360" cy="2834640"/>
          </a:xfrm>
          <a:prstGeom prst="rect">
            <a:avLst/>
          </a:prstGeom>
          <a:solidFill>
            <a:srgbClr val="1D3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2011680"/>
            <a:ext cx="478536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8312" y="2176272"/>
            <a:ext cx="44561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OUTCOME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450592"/>
            <a:ext cx="4456176" cy="2304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E9F0C9"/>
                </a:solidFill>
                <a:latin typeface="Open Sans"/>
              </a:rPr>
              <a:t>The first qualified NHS buyer conversation that came from content.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E9F0C9"/>
                </a:solidFill>
                <a:latin typeface="Open Sans"/>
              </a:rPr>
              <a:t>Target: a number we agree before we start.
Proof: every enquiry traced to the post that sent it.
Weekly output (proposed): 1 edited recording, 4-6 shorts, 3 LinkedIn posts, 1 article, 1 newsletter.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9EBB80"/>
                </a:solidFill>
                <a:latin typeface="IBM Plex Mono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1118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E9F0C9"/>
                </a:solidFill>
                <a:latin typeface="Poppins"/>
              </a:rPr>
              <a:t>Six answers, then we price the pilot.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9EBB80"/>
                </a:solidFill>
                <a:latin typeface="Open Sans"/>
              </a:rPr>
              <a:t>Extol Affiliates · Prepared for Amit Chavda · DigitalClinic.ai ·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9EBB80"/>
                </a:solidFill>
                <a:latin typeface="IBM Plex Mono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3606800" cy="1234440"/>
          </a:xfrm>
          <a:prstGeom prst="rect">
            <a:avLst/>
          </a:prstGeom>
          <a:solidFill>
            <a:srgbClr val="2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60680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3736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8424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DigitalClinic.ai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What it does in one line, its stage, and are you raising now?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600" y="1600200"/>
            <a:ext cx="3606800" cy="1234440"/>
          </a:xfrm>
          <a:prstGeom prst="rect">
            <a:avLst/>
          </a:prstGeom>
          <a:solidFill>
            <a:srgbClr val="2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2600" y="1600200"/>
            <a:ext cx="360680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192" y="173736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192" y="198424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Audience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Which trusts, roles and investors, and where should each post send them?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2280" y="1600200"/>
            <a:ext cx="3606800" cy="1234440"/>
          </a:xfrm>
          <a:prstGeom prst="rect">
            <a:avLst/>
          </a:prstGeom>
          <a:solidFill>
            <a:srgbClr val="2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2280" y="1600200"/>
            <a:ext cx="360680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6872" y="173736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6872" y="198424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Roles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What does your Radiobotics contract allow, and how do you disclose AXREM and DigitalClinic.ai?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17520"/>
            <a:ext cx="3606800" cy="1234440"/>
          </a:xfrm>
          <a:prstGeom prst="rect">
            <a:avLst/>
          </a:prstGeom>
          <a:solidFill>
            <a:srgbClr val="2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017520"/>
            <a:ext cx="360680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15468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40156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Production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Can you record once a week, and in what style?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600" y="3017520"/>
            <a:ext cx="3606800" cy="1234440"/>
          </a:xfrm>
          <a:prstGeom prst="rect">
            <a:avLst/>
          </a:prstGeom>
          <a:solidFill>
            <a:srgbClr val="2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2600" y="3017520"/>
            <a:ext cx="360680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7192" y="315468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7192" y="340156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Access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Which accounts connect, and who handles enquiries?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2280" y="3017520"/>
            <a:ext cx="3606800" cy="1234440"/>
          </a:xfrm>
          <a:prstGeom prst="rect">
            <a:avLst/>
          </a:prstGeom>
          <a:solidFill>
            <a:srgbClr val="2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2280" y="3017520"/>
            <a:ext cx="3606800" cy="50800"/>
          </a:xfrm>
          <a:prstGeom prst="rect">
            <a:avLst/>
          </a:prstGeom>
          <a:solidFill>
            <a:srgbClr val="9EB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6872" y="3154680"/>
            <a:ext cx="32776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9EBB80"/>
                </a:solidFill>
                <a:latin typeface="IBM Plex Mono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6872" y="3401568"/>
            <a:ext cx="32776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E9F0C9"/>
                </a:solidFill>
                <a:latin typeface="Open Sans"/>
              </a:rPr>
              <a:t>Budget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9F0C9"/>
                </a:solidFill>
                <a:latin typeface="Open Sans"/>
              </a:rPr>
              <a:t>What pilot budget and tool cap works for you?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1118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EBB80"/>
                </a:solidFill>
                <a:latin typeface="Open Sans"/>
              </a:rPr>
              <a:t>Price = fixed setup + monthly operation + capped tools (ChatGPT, Higgsfield, Apollo; Bloggerly.ai at no tool cost). Nothing publishes until you approve the complete pack.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